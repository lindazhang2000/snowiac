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Welcome. In the next ~15 minutes I'll show you SnowIaC — an end-to-end pipeline that turns a ServiceNow change request into a deployed, verified Azure resource with zero manual steps after the human PR approval.</a:t>
            </a:r>
          </a:p>
          <a:p>
            <a:pPr>
              <a:defRPr sz="1200"/>
            </a:pPr>
            <a:r>
              <a:t>The name is the workflow: SNOW (ServiceNow) → IaC (Infrastructure as Code). Built on Microsoft Agent Framework and Azure Foundry.</a:t>
            </a:r>
          </a:p>
          <a:p>
            <a:pPr>
              <a:defRPr sz="1200"/>
            </a:pPr>
            <a:r>
              <a:t>Everything you'll see is live. Real ServiceNow instance, real GitHub repository, real Azure resources. No mocks, no replays. Total runtime end-to-end is about 3-4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Let's frame the problem. In any organization running cloud at scale, infrastructure change requests come in through ITSM — ServiceNow being the dominant system.</a:t>
            </a:r>
          </a:p>
          <a:p>
            <a:pPr>
              <a:defRPr sz="1200"/>
            </a:pPr>
            <a:r>
              <a:t>Five things go wrong every time:</a:t>
            </a:r>
          </a:p>
          <a:p>
            <a:pPr>
              <a:defRPr sz="1200"/>
            </a:pPr>
            <a:r>
              <a:t>1. Tickets pile up. Even a simple disk IOPS increase has to be triaged by a cloud admin.</a:t>
            </a:r>
          </a:p>
          <a:p>
            <a:pPr>
              <a:defRPr sz="1200"/>
            </a:pPr>
            <a:r>
              <a:t>2. Context-switching tax. The admin flips between ServiceNow to read the ticket, an internal wiki for the standard, a Terraform repo to write the code, GitHub to open a PR, Azure portal to verify, and back to ServiceNow to close. Six systems, one ticket.</a:t>
            </a:r>
          </a:p>
          <a:p>
            <a:pPr>
              <a:defRPr sz="1200"/>
            </a:pPr>
            <a:r>
              <a:t>3. Hand-written Terraform drifts. Every engineer writes it slightly differently and PR reviewers re-litigate the same patterns weekly.</a:t>
            </a:r>
          </a:p>
          <a:p>
            <a:pPr>
              <a:defRPr sz="1200"/>
            </a:pPr>
            <a:r>
              <a:t>4. Verification is manual. Did the change actually land with the right values? Someone logs in and eyeballs it.</a:t>
            </a:r>
          </a:p>
          <a:p>
            <a:pPr>
              <a:defRPr sz="1200"/>
            </a:pPr>
            <a:r>
              <a:t>5. The audit trail is split across five systems. Auditors hate this.</a:t>
            </a:r>
          </a:p>
          <a:p>
            <a:pPr>
              <a:defRPr sz="1200"/>
            </a:pPr>
            <a:r>
              <a:t>Net result: routine changes take hours to days, and humans are doing work that agents can do reliably and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SnowIaC takes that whole flow and collapses it into one pipeline with five specialized agents.</a:t>
            </a:r>
          </a:p>
          <a:p>
            <a:pPr>
              <a:defRPr sz="1200"/>
            </a:pPr>
            <a:r>
              <a:t>Ingest: polls ServiceNow or accepts a webhook. Routine plumbing.</a:t>
            </a:r>
          </a:p>
          <a:p>
            <a:pPr>
              <a:defRPr sz="1200"/>
            </a:pPr>
            <a:r>
              <a:t>Classify: the Intake agent uses Foundry gpt-5.4 to figure out what kind of request this is and whether the required fields are present. If something's missing, it tells ServiceNow and stops.</a:t>
            </a:r>
          </a:p>
          <a:p>
            <a:pPr>
              <a:defRPr sz="1200"/>
            </a:pPr>
            <a:r>
              <a:t>Generate: the CodeGen agent takes the structured ticket data and renders Terraform from Jinja2 templates with StrictUndefined — meaning if any required variable is missing, generation fails loudly rather than producing bad code.</a:t>
            </a:r>
          </a:p>
          <a:p>
            <a:pPr>
              <a:defRPr sz="1200"/>
            </a:pPr>
            <a:r>
              <a:t>Propose: opens a GitHub PR with the diff and a human-readable summary so a reviewer knows exactly what's changing.</a:t>
            </a:r>
          </a:p>
          <a:p>
            <a:pPr>
              <a:defRPr sz="1200"/>
            </a:pPr>
            <a:r>
              <a:t>Deploy: when the PR is merged, GitHub Actions runs terraform apply with OIDC — no long-lived credentials.</a:t>
            </a:r>
          </a:p>
          <a:p>
            <a:pPr>
              <a:defRPr sz="1200"/>
            </a:pPr>
            <a:r>
              <a:t>Verify: the Verification agent reads the live Azure resource and compares it to the spec from the original ticket.</a:t>
            </a:r>
          </a:p>
          <a:p>
            <a:pPr>
              <a:defRPr sz="1200"/>
            </a:pPr>
            <a:r>
              <a:t>Close: finally the Closure agent updates ServiceNow to Closed Complete and attaches the evidence.</a:t>
            </a:r>
          </a:p>
          <a:p>
            <a:pPr>
              <a:defRPr sz="1200"/>
            </a:pPr>
            <a:r>
              <a:t>The key design point: the human stays in the loop, but only at the PR review step. Every other transition is autonomous, observable, and fully audited.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This is the high-level architecture. Three swim lanes: ServiceNow on the left, the SnowIaC app in the middle running on Azure Container Apps, and the downstream systems — GitHub and Azure — on the right.</a:t>
            </a:r>
          </a:p>
          <a:p>
            <a:pPr>
              <a:defRPr sz="1200"/>
            </a:pPr>
            <a:r>
              <a:t>The flow reads left-to-right, top-to-bottom:</a:t>
            </a:r>
          </a:p>
          <a:p>
            <a:pPr>
              <a:defRPr sz="1200"/>
            </a:pPr>
            <a:r>
              <a:t>A RITM is created in ServiceNow. Either polled or pushed via the catalog item we built.</a:t>
            </a:r>
          </a:p>
          <a:p>
            <a:pPr>
              <a:defRPr sz="1200"/>
            </a:pPr>
            <a:r>
              <a:t>The Intake agent picks it up, classifies it with Foundry, and validates required fields.</a:t>
            </a:r>
          </a:p>
          <a:p>
            <a:pPr>
              <a:defRPr sz="1200"/>
            </a:pPr>
            <a:r>
              <a:t>The CodeGen agent renders Terraform and the PR agent opens a pull request in GitHub.</a:t>
            </a:r>
          </a:p>
          <a:p>
            <a:pPr>
              <a:defRPr sz="1200"/>
            </a:pPr>
            <a:r>
              <a:t>A human merges. That triggers the terraform-apply GitHub Actions workflow, which applies against the target Azure resource group.</a:t>
            </a:r>
          </a:p>
          <a:p>
            <a:pPr>
              <a:defRPr sz="1200"/>
            </a:pPr>
            <a:r>
              <a:t>GitHub Actions sends an HMAC-signed webhook back to SnowIaC saying "the apply succeeded." That fires the Verify agent, which reads the live resource and confirms it matches the spec.</a:t>
            </a:r>
          </a:p>
          <a:p>
            <a:pPr>
              <a:defRPr sz="1200"/>
            </a:pPr>
            <a:r>
              <a:t>Finally the Close agent patches the RITM to Closed Complete with the apply log and verification evidence.</a:t>
            </a:r>
          </a:p>
          <a:p>
            <a:pPr>
              <a:defRPr sz="1200"/>
            </a:pPr>
            <a:r>
              <a:t>All five agents authenticate to Foundry using a user-assigned managed identity. No API keys anywhere. Everything is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Quick tour of what's under the hood.</a:t>
            </a:r>
          </a:p>
          <a:p>
            <a:pPr>
              <a:defRPr sz="1200"/>
            </a:pPr>
            <a:r>
              <a:t>Agents: Microsoft Agent Framework version 1.0.0rc6 driving five Foundry agents on a gpt-5.4 deployment. Authentication is ManagedIdentityCredential — the Container App's user-assigned managed identity has the Azure AI User role on the Foundry account.</a:t>
            </a:r>
          </a:p>
          <a:p>
            <a:pPr>
              <a:defRPr sz="1200"/>
            </a:pPr>
            <a:r>
              <a:t>App: FastAPI with Pydantic v2 for type-safe ticket models. Postgres Flexible Server for persistence — durable ticket state survives container restarts. Jinja2 templates with StrictUndefined so we fail fast on missing data instead of generating broken Terraform.</a:t>
            </a:r>
          </a:p>
          <a:p>
            <a:pPr>
              <a:defRPr sz="1200"/>
            </a:pPr>
            <a:r>
              <a:t>Infra: Azure Container Apps for the SnowIaC server itself, Azure Container Registry for the image, Key Vault with RBAC for all secrets — HMAC, ServiceNow password, GitHub token, database connection string. Everything declared in Terraform using azurerm provider version 4.</a:t>
            </a:r>
          </a:p>
          <a:p>
            <a:pPr>
              <a:defRPr sz="1200"/>
            </a:pPr>
            <a:r>
              <a:t>Pipeline: GitHub Actions using OIDC federation — no long-lived service-principal secrets. HMAC-signed webhooks back from GitHub so SnowIaC knows the deploy ran. ServiceNow REST API on the upstream side.</a:t>
            </a:r>
          </a:p>
          <a:p>
            <a:pPr>
              <a:defRPr sz="1200"/>
            </a:pPr>
            <a:r>
              <a:t>Key point at the bottom: the entire stack — including the Foundry role assignments and the Postgres database — is in Terraform. From a clean subscription, you could redeploy this whole thing in 10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This is exactly what you'll see in the next few minutes.</a:t>
            </a:r>
          </a:p>
          <a:p>
            <a:pPr>
              <a:defRPr sz="1200"/>
            </a:pPr>
            <a:r>
              <a:t>Step 1: I run a PowerShell script that hits the ServiceNow REST API and creates a real RITM. You'll see the RITM number.</a:t>
            </a:r>
          </a:p>
          <a:p>
            <a:pPr>
              <a:defRPr sz="1200"/>
            </a:pPr>
            <a:r>
              <a:t>Step 2: The script then POSTs to SnowIaC's /tickets/intake. Intake agent runs, gpt-5.4 classifies it as azure_infra_change.</a:t>
            </a:r>
          </a:p>
          <a:p>
            <a:pPr>
              <a:defRPr sz="1200"/>
            </a:pPr>
            <a:r>
              <a:t>Step 3: CodeGen renders Terraform from the disk-IOPS template. You'll see the PR open in the GitHub tab.</a:t>
            </a:r>
          </a:p>
          <a:p>
            <a:pPr>
              <a:defRPr sz="1200"/>
            </a:pPr>
            <a:r>
              <a:t>Step 4: This is the only manual moment. I review the PR — it shows the exact diff — and merge it. That's the human gate, and it's the right place for one.</a:t>
            </a:r>
          </a:p>
          <a:p>
            <a:pPr>
              <a:defRPr sz="1200"/>
            </a:pPr>
            <a:r>
              <a:t>Step 5: GitHub Actions kicks in. terraform apply against the real managed disk in Azure.</a:t>
            </a:r>
          </a:p>
          <a:p>
            <a:pPr>
              <a:defRPr sz="1200"/>
            </a:pPr>
            <a:r>
              <a:t>Step 6: The apply finishes, webhook fires back to SnowIaC, Verify agent reads the live disk and confirms IOPS and throughput match the request, Close agent patches the RITM to Closed Complete.</a:t>
            </a:r>
          </a:p>
          <a:p>
            <a:pPr>
              <a:defRPr sz="1200"/>
            </a:pPr>
            <a:r>
              <a:t>Throughout all of this, the dashboard at /api/tickets/&lt;RITM&gt; shows the stage flipping in real time: INTAKE → CODEGEN → PR OPENED → AWAITING HUMAN MERGE → DEPLOY APPLIED → VERIFIED →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Why this matters beyond one disk-resize demo.</a:t>
            </a:r>
          </a:p>
          <a:p>
            <a:pPr>
              <a:defRPr sz="1200"/>
            </a:pPr>
            <a:r>
              <a:t>Four numbers to anchor:</a:t>
            </a:r>
          </a:p>
          <a:p>
            <a:pPr>
              <a:defRPr sz="1200"/>
            </a:pPr>
            <a:r>
              <a:t>— Hours to seconds: the ticket-to-PR time. The agent renders Terraform and opens the PR in well under a minute.</a:t>
            </a:r>
          </a:p>
          <a:p>
            <a:pPr>
              <a:defRPr sz="1200"/>
            </a:pPr>
            <a:r>
              <a:t>— Zero to infinity: how many tickets a team can absorb. The bottleneck stops being human triage and becomes Azure API throughput.</a:t>
            </a:r>
          </a:p>
          <a:p>
            <a:pPr>
              <a:defRPr sz="1200"/>
            </a:pPr>
            <a:r>
              <a:t>— 100% audit trail: every state transition is recorded across ServiceNow, GitHub, and Azure activity log. Auditors love this.</a:t>
            </a:r>
          </a:p>
          <a:p>
            <a:pPr>
              <a:defRPr sz="1200"/>
            </a:pPr>
            <a:r>
              <a:t>— Reproducible: the entire stack is in Terraform, including the Foundry role assignments. We've blown it away and rebuilt it from scratch.</a:t>
            </a:r>
          </a:p>
          <a:p>
            <a:pPr>
              <a:defRPr sz="1200"/>
            </a:pPr>
            <a:r>
              <a:t>And the bigger point: this isn't really about disk IOPS. The same agent pattern fits every common ITSM-to-cloud workflow — VM resizes, storage account creation, firewall rules, RBAC grants, secret rotation, cost guardrails. Any structured ticket where the change can be expressed as code.</a:t>
            </a:r>
          </a:p>
          <a:p>
            <a:pPr>
              <a:defRPr sz="1200"/>
            </a:pPr>
            <a:r>
              <a:t>This is the template for autonomous cloud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That's the pitch. Time to switch to the terminal and the browser and run it for real.</a:t>
            </a:r>
          </a:p>
          <a:p>
            <a:pPr>
              <a:defRPr sz="1200"/>
            </a:pPr>
            <a:r>
              <a:t>I'll have three windows open: the SnowIaC dashboard showing ticket state, the GitHub PR tab, and ServiceNow showing the RITM. Watch all three update as the agents work.</a:t>
            </a:r>
          </a:p>
          <a:p>
            <a:pPr>
              <a:defRPr sz="1200"/>
            </a:pPr>
            <a:r>
              <a:t>The code is open at github.com/lindazhang2000/snowiac — Terraform, agent code, GitHub Actions workflow, demo scripts, everything.</a:t>
            </a:r>
          </a:p>
          <a:p>
            <a:pPr>
              <a:defRPr sz="1200"/>
            </a:pPr>
            <a:r>
              <a:t>Let's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0"/>
            <a:ext cx="12191695" cy="109728"/>
          </a:xfrm>
          <a:prstGeom prst="rect">
            <a:avLst/>
          </a:prstGeom>
          <a:solidFill>
            <a:srgbClr val="E6A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</a:defRPr>
            </a:pPr>
            <a:r>
              <a:t>SnowIaC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728655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400" b="0">
                <a:solidFill>
                  <a:srgbClr val="CFDAE8"/>
                </a:solidFill>
              </a:defRPr>
            </a:pPr>
            <a:r>
              <a:t>ServiceNow → AI Agents → Infrastructure as Code → Azure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A9BCD2"/>
                </a:solidFill>
              </a:defRPr>
            </a:pPr>
            <a:r>
              <a:t>Auto-pilot the ITSM-to-cloud workflow with Microsoft Agent Framework + Azure Foundry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72865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E6A423"/>
                </a:solidFill>
              </a:defRPr>
            </a:pPr>
            <a:r>
              <a:t>Demo • Live against real ServiceNow, real GitHub, real Azure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Problem</a:t>
            </a:r>
          </a:p>
          <a:p>
            <a:pPr>
              <a:defRPr sz="1200">
                <a:solidFill>
                  <a:srgbClr val="CFDAE8"/>
                </a:solidFill>
              </a:defRPr>
            </a:pPr>
            <a:r>
              <a:t>Infrastructure change requests are slow, manual, and error-prone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486400" cy="9144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600" b="1">
                <a:solidFill>
                  <a:srgbClr val="0B2A4A"/>
                </a:solidFill>
              </a:defRPr>
            </a:pPr>
            <a:r>
              <a:t>Tickets pile up</a:t>
            </a:r>
          </a:p>
          <a:p>
            <a:pPr algn="ctr">
              <a:defRPr sz="1200" b="0">
                <a:solidFill>
                  <a:srgbClr val="555B66"/>
                </a:solidFill>
              </a:defRPr>
            </a:pPr>
            <a:r>
              <a:t>Cloud admins triage every RITM by hand — even routine disk resizes.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486400" cy="9144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600" b="1">
                <a:solidFill>
                  <a:srgbClr val="0B2A4A"/>
                </a:solidFill>
              </a:defRPr>
            </a:pPr>
            <a:r>
              <a:t>Context-switching tax</a:t>
            </a:r>
          </a:p>
          <a:p>
            <a:pPr algn="ctr">
              <a:defRPr sz="1200" b="0">
                <a:solidFill>
                  <a:srgbClr val="555B66"/>
                </a:solidFill>
              </a:defRPr>
            </a:pPr>
            <a:r>
              <a:t>SNOW → wiki → Terraform repo → PR review → Azure portal → SNOW close.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5486400" cy="9144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600" b="1">
                <a:solidFill>
                  <a:srgbClr val="0B2A4A"/>
                </a:solidFill>
              </a:defRPr>
            </a:pPr>
            <a:r>
              <a:t>Inconsistent code</a:t>
            </a:r>
          </a:p>
          <a:p>
            <a:pPr algn="ctr">
              <a:defRPr sz="1200" b="0">
                <a:solidFill>
                  <a:srgbClr val="555B66"/>
                </a:solidFill>
              </a:defRPr>
            </a:pPr>
            <a:r>
              <a:t>Hand-written Terraform drifts from standards; reviewers re-litigate every PR.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423160"/>
            <a:ext cx="5486400" cy="9144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600" b="1">
                <a:solidFill>
                  <a:srgbClr val="0B2A4A"/>
                </a:solidFill>
              </a:defRPr>
            </a:pPr>
            <a:r>
              <a:t>Slow verification</a:t>
            </a:r>
          </a:p>
          <a:p>
            <a:pPr algn="ctr">
              <a:defRPr sz="1200" b="0">
                <a:solidFill>
                  <a:srgbClr val="555B66"/>
                </a:solidFill>
              </a:defRPr>
            </a:pPr>
            <a:r>
              <a:t>Did the change actually land? Someone has to log in and check.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5486400" cy="9144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600" b="1">
                <a:solidFill>
                  <a:srgbClr val="0B2A4A"/>
                </a:solidFill>
              </a:defRPr>
            </a:pPr>
            <a:r>
              <a:t>No audit trail</a:t>
            </a:r>
          </a:p>
          <a:p>
            <a:pPr algn="ctr">
              <a:defRPr sz="1200" b="0">
                <a:solidFill>
                  <a:srgbClr val="555B66"/>
                </a:solidFill>
              </a:defRPr>
            </a:pPr>
            <a:r>
              <a:t>Approvals, code, deploy, verify, closure spread across 5 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11094415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1F6FEB"/>
                </a:solidFill>
              </a:defRPr>
            </a:pPr>
            <a:r>
              <a:t>→ Result: hours-to-days per ticket, with humans doing work agents can do reliably.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SnowIaC Does</a:t>
            </a:r>
          </a:p>
          <a:p>
            <a:pPr>
              <a:defRPr sz="1200">
                <a:solidFill>
                  <a:srgbClr val="CFDAE8"/>
                </a:solidFill>
              </a:defRPr>
            </a:pPr>
            <a:r>
              <a:t>One pipeline. Five agents. Zero ticket-shuffling.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371600" cy="50292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Ingests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188720"/>
            <a:ext cx="94183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0">
                <a:solidFill>
                  <a:srgbClr val="1A1F2C"/>
                </a:solidFill>
              </a:defRPr>
            </a:pPr>
            <a:r>
              <a:t>Polls ServiceNow for new RITMs (or accepts /tickets/intake POSTs).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371600" cy="50292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Classifies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783080"/>
            <a:ext cx="94183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0">
                <a:solidFill>
                  <a:srgbClr val="1A1F2C"/>
                </a:solidFill>
              </a:defRPr>
            </a:pPr>
            <a:r>
              <a:t>Intake agent uses Foundry gpt-5.4 to pick the request kind and validate fields.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1371600" cy="50292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Generates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377440"/>
            <a:ext cx="94183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0">
                <a:solidFill>
                  <a:srgbClr val="1A1F2C"/>
                </a:solidFill>
              </a:defRPr>
            </a:pPr>
            <a:r>
              <a:t>Code-gen agent emits Terraform from Jinja2 templates with strict undefined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71800"/>
            <a:ext cx="1371600" cy="50292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Proposes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971800"/>
            <a:ext cx="94183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0">
                <a:solidFill>
                  <a:srgbClr val="1A1F2C"/>
                </a:solidFill>
              </a:defRPr>
            </a:pPr>
            <a:r>
              <a:t>Opens a GitHub PR with the Terraform diff and human-readable summary.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1371600" cy="50292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Deploys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566160"/>
            <a:ext cx="94183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0">
                <a:solidFill>
                  <a:srgbClr val="1A1F2C"/>
                </a:solidFill>
              </a:defRPr>
            </a:pPr>
            <a:r>
              <a:t>On merge, GH Actions runs terraform apply against Azure.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60520"/>
            <a:ext cx="1371600" cy="50292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Verifies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160520"/>
            <a:ext cx="94183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0">
                <a:solidFill>
                  <a:srgbClr val="1A1F2C"/>
                </a:solidFill>
              </a:defRPr>
            </a:pPr>
            <a:r>
              <a:t>Verification agent reads the live resource and proves spec compliance.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54880"/>
            <a:ext cx="1371600" cy="50292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Closes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754880"/>
            <a:ext cx="94183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0">
                <a:solidFill>
                  <a:srgbClr val="1A1F2C"/>
                </a:solidFill>
              </a:defRPr>
            </a:pPr>
            <a:r>
              <a:t>Closure agent patches the SNOW ticket to Closed Complete with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43600"/>
            <a:ext cx="1091153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15A08C"/>
                </a:solidFill>
              </a:defRPr>
            </a:pPr>
            <a:r>
              <a:t>Human in the loop ONLY at PR review — every other step is autonomous and auditable.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High-Level Architecture</a:t>
            </a:r>
          </a:p>
          <a:p>
            <a:pPr>
              <a:defRPr sz="1200">
                <a:solidFill>
                  <a:srgbClr val="CFDAE8"/>
                </a:solidFill>
              </a:defRPr>
            </a:pPr>
            <a:r>
              <a:t>ServiceNow → Foundry Agents → GitHub → Azure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728618" cy="365760"/>
          </a:xfrm>
          <a:prstGeom prst="rect">
            <a:avLst/>
          </a:prstGeom>
          <a:solidFill>
            <a:srgbClr val="E6A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ServiceNow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728618" cy="4572000"/>
          </a:xfrm>
          <a:prstGeom prst="rect">
            <a:avLst/>
          </a:prstGeom>
          <a:solidFill>
            <a:srgbClr val="F3F6FA"/>
          </a:solidFill>
          <a:ln w="1270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85818" y="1097280"/>
            <a:ext cx="3728618" cy="365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SnowIaC App (Container App + Foundry Agents)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85818" y="1463040"/>
            <a:ext cx="3728618" cy="4572000"/>
          </a:xfrm>
          <a:prstGeom prst="rect">
            <a:avLst/>
          </a:prstGeom>
          <a:solidFill>
            <a:srgbClr val="F3F6FA"/>
          </a:solidFill>
          <a:ln w="1270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05876" y="1097280"/>
            <a:ext cx="3728618" cy="365760"/>
          </a:xfrm>
          <a:prstGeom prst="rect">
            <a:avLst/>
          </a:prstGeom>
          <a:solidFill>
            <a:srgbClr val="15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Azure / GitHub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5876" y="1463040"/>
            <a:ext cx="3728618" cy="4572000"/>
          </a:xfrm>
          <a:prstGeom prst="rect">
            <a:avLst/>
          </a:prstGeom>
          <a:solidFill>
            <a:srgbClr val="F3F6FA"/>
          </a:solidFill>
          <a:ln w="1270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3383280" cy="914400"/>
          </a:xfrm>
          <a:prstGeom prst="roundRect">
            <a:avLst/>
          </a:prstGeom>
          <a:solidFill>
            <a:srgbClr val="E6A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ServiceNow RITM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Catalog item: Azure Cloud Infrastructure Change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60"/>
            <a:ext cx="3383280" cy="914400"/>
          </a:xfrm>
          <a:prstGeom prst="round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RITM → Closed Complete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With deploy + verification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291840" cy="64008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Intake  Agent</a:t>
            </a:r>
          </a:p>
          <a:p>
            <a:pPr algn="ctr">
              <a:defRPr sz="1000" b="0">
                <a:solidFill>
                  <a:srgbClr val="CFDAE8"/>
                </a:solidFill>
              </a:defRPr>
            </a:pPr>
            <a:r>
              <a:t>Classify + validate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651760"/>
            <a:ext cx="3291840" cy="64008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CodeGen  Agent</a:t>
            </a:r>
          </a:p>
          <a:p>
            <a:pPr algn="ctr">
              <a:defRPr sz="1000" b="0">
                <a:solidFill>
                  <a:srgbClr val="CFDAE8"/>
                </a:solidFill>
              </a:defRPr>
            </a:pPr>
            <a:r>
              <a:t>Render Terraform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474720"/>
            <a:ext cx="3291840" cy="64008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  Agent</a:t>
            </a:r>
          </a:p>
          <a:p>
            <a:pPr algn="ctr">
              <a:defRPr sz="1000" b="0">
                <a:solidFill>
                  <a:srgbClr val="CFDAE8"/>
                </a:solidFill>
              </a:defRPr>
            </a:pPr>
            <a:r>
              <a:t>Open GitHub PR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297680"/>
            <a:ext cx="3291840" cy="64008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Verify  Agent</a:t>
            </a:r>
          </a:p>
          <a:p>
            <a:pPr algn="ctr">
              <a:defRPr sz="1000" b="0">
                <a:solidFill>
                  <a:srgbClr val="CFDAE8"/>
                </a:solidFill>
              </a:defRPr>
            </a:pPr>
            <a:r>
              <a:t>Read live resource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5120640"/>
            <a:ext cx="3291840" cy="64008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Close  Agent</a:t>
            </a:r>
          </a:p>
          <a:p>
            <a:pPr algn="ctr">
              <a:defRPr sz="1000" b="0">
                <a:solidFill>
                  <a:srgbClr val="CFDAE8"/>
                </a:solidFill>
              </a:defRPr>
            </a:pPr>
            <a:r>
              <a:t>Patch SNOW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828800"/>
            <a:ext cx="3383280" cy="914400"/>
          </a:xfrm>
          <a:prstGeom prst="roundRect">
            <a:avLst/>
          </a:prstGeom>
          <a:solidFill>
            <a:srgbClr val="1A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GitHub PR + Actions</a:t>
            </a:r>
          </a:p>
          <a:p>
            <a:pPr algn="ctr">
              <a:defRPr sz="1000" b="0">
                <a:solidFill>
                  <a:srgbClr val="CFDAE8"/>
                </a:solidFill>
              </a:defRPr>
            </a:pPr>
            <a:r>
              <a:t>terraform-apply workflow on merge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3108960"/>
            <a:ext cx="3383280" cy="914400"/>
          </a:xfrm>
          <a:prstGeom prst="roundRect">
            <a:avLst/>
          </a:prstGeom>
          <a:solidFill>
            <a:srgbClr val="15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Azure Resources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Managed disks, VMs, etc. (target RG)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4389120"/>
            <a:ext cx="3383280" cy="91440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Azure Foundry</a:t>
            </a:r>
          </a:p>
          <a:p>
            <a:pPr algn="ctr">
              <a:defRPr sz="1000" b="0">
                <a:solidFill>
                  <a:srgbClr val="CFDAE8"/>
                </a:solidFill>
              </a:defRPr>
            </a:pPr>
            <a:r>
              <a:t>gpt-5.4 deployment • UAMI auth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3931920" y="2148840"/>
            <a:ext cx="457200" cy="137160"/>
          </a:xfrm>
          <a:prstGeom prst="line">
            <a:avLst/>
          </a:prstGeom>
          <a:ln w="28575">
            <a:solidFill>
              <a:srgbClr val="0B2A4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680960" y="2286000"/>
            <a:ext cx="731520" cy="685800"/>
          </a:xfrm>
          <a:prstGeom prst="line">
            <a:avLst/>
          </a:prstGeom>
          <a:ln w="28575">
            <a:solidFill>
              <a:srgbClr val="0B2A4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80960" y="4023360"/>
            <a:ext cx="731520" cy="822960"/>
          </a:xfrm>
          <a:prstGeom prst="line">
            <a:avLst/>
          </a:prstGeom>
          <a:ln w="28575">
            <a:solidFill>
              <a:srgbClr val="0B2A4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7680960" y="4206240"/>
            <a:ext cx="731520" cy="365760"/>
          </a:xfrm>
          <a:prstGeom prst="line">
            <a:avLst/>
          </a:prstGeom>
          <a:ln w="28575">
            <a:solidFill>
              <a:srgbClr val="0B2A4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04120" y="2743200"/>
            <a:ext cx="0" cy="365760"/>
          </a:xfrm>
          <a:prstGeom prst="line">
            <a:avLst/>
          </a:prstGeom>
          <a:ln w="28575">
            <a:solidFill>
              <a:srgbClr val="15A08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7680960" y="3566160"/>
            <a:ext cx="731520" cy="1051560"/>
          </a:xfrm>
          <a:prstGeom prst="line">
            <a:avLst/>
          </a:prstGeom>
          <a:ln w="28575">
            <a:solidFill>
              <a:srgbClr val="15A08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931920" y="5394960"/>
            <a:ext cx="457200" cy="45720"/>
          </a:xfrm>
          <a:prstGeom prst="line">
            <a:avLst/>
          </a:prstGeom>
          <a:ln w="28575">
            <a:solidFill>
              <a:srgbClr val="555B6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B66"/>
                </a:solidFill>
              </a:defRPr>
            </a:pPr>
            <a:r>
              <a:t>Webhook back from GH Actions (HMAC-signed) triggers the Verify → Close cascade.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 Stack</a:t>
            </a:r>
          </a:p>
          <a:p>
            <a:pPr>
              <a:defRPr sz="1200">
                <a:solidFill>
                  <a:srgbClr val="CFDAE8"/>
                </a:solidFill>
              </a:defRPr>
            </a:pPr>
            <a:r>
              <a:t>Cloud-native, fully managed, fully reproducible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743200" cy="50292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20"/>
            <a:ext cx="2743200" cy="41148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/>
          <a:lstStyle/>
          <a:p>
            <a:pPr algn="ctr">
              <a:spcAft>
                <a:spcPts val="800"/>
              </a:spcAft>
              <a:defRPr sz="1300">
                <a:solidFill>
                  <a:srgbClr val="1A1F2C"/>
                </a:solidFill>
              </a:defRPr>
            </a:pPr>
            <a:r>
              <a:t>• Microsoft Agent Framework 1.0.0rc6</a:t>
            </a:r>
          </a:p>
          <a:p>
            <a:pPr>
              <a:spcAft>
                <a:spcPts val="800"/>
              </a:spcAft>
              <a:defRPr sz="1300">
                <a:solidFill>
                  <a:srgbClr val="1A1F2C"/>
                </a:solidFill>
              </a:defRPr>
            </a:pPr>
            <a:r>
              <a:t>• Azure Foundry • gpt-5.4 deployment</a:t>
            </a:r>
          </a:p>
          <a:p>
            <a:pPr>
              <a:spcAft>
                <a:spcPts val="800"/>
              </a:spcAft>
              <a:defRPr sz="1300">
                <a:solidFill>
                  <a:srgbClr val="1A1F2C"/>
                </a:solidFill>
              </a:defRPr>
            </a:pPr>
            <a:r>
              <a:t>• ManagedIdentityCredential (UAMI)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280160"/>
            <a:ext cx="2743200" cy="502920"/>
          </a:xfrm>
          <a:prstGeom prst="roundRect">
            <a:avLst/>
          </a:prstGeom>
          <a:solidFill>
            <a:srgbClr val="15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874520"/>
            <a:ext cx="2743200" cy="41148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/>
          <a:lstStyle/>
          <a:p>
            <a:pPr algn="ctr">
              <a:spcAft>
                <a:spcPts val="800"/>
              </a:spcAft>
              <a:defRPr sz="1300">
                <a:solidFill>
                  <a:srgbClr val="1A1F2C"/>
                </a:solidFill>
              </a:defRPr>
            </a:pPr>
            <a:r>
              <a:t>• FastAPI + Pydantic v2</a:t>
            </a:r>
          </a:p>
          <a:p>
            <a:pPr>
              <a:spcAft>
                <a:spcPts val="800"/>
              </a:spcAft>
              <a:defRPr sz="1300">
                <a:solidFill>
                  <a:srgbClr val="1A1F2C"/>
                </a:solidFill>
              </a:defRPr>
            </a:pPr>
            <a:r>
              <a:t>• Postgres ticket store (Azure Flexible Server)</a:t>
            </a:r>
          </a:p>
          <a:p>
            <a:pPr>
              <a:spcAft>
                <a:spcPts val="800"/>
              </a:spcAft>
              <a:defRPr sz="1300">
                <a:solidFill>
                  <a:srgbClr val="1A1F2C"/>
                </a:solidFill>
              </a:defRPr>
            </a:pPr>
            <a:r>
              <a:t>• Jinja2 (StrictUndefined) Terraform templates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2743200" cy="50292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Infra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20"/>
            <a:ext cx="2743200" cy="41148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/>
          <a:lstStyle/>
          <a:p>
            <a:pPr algn="ctr">
              <a:spcAft>
                <a:spcPts val="800"/>
              </a:spcAft>
              <a:defRPr sz="1300">
                <a:solidFill>
                  <a:srgbClr val="1A1F2C"/>
                </a:solidFill>
              </a:defRPr>
            </a:pPr>
            <a:r>
              <a:t>• Azure Container Apps + ACR</a:t>
            </a:r>
          </a:p>
          <a:p>
            <a:pPr>
              <a:spcAft>
                <a:spcPts val="800"/>
              </a:spcAft>
              <a:defRPr sz="1300">
                <a:solidFill>
                  <a:srgbClr val="1A1F2C"/>
                </a:solidFill>
              </a:defRPr>
            </a:pPr>
            <a:r>
              <a:t>• Key Vault for secrets (RBAC)</a:t>
            </a:r>
          </a:p>
          <a:p>
            <a:pPr>
              <a:spcAft>
                <a:spcPts val="800"/>
              </a:spcAft>
              <a:defRPr sz="1300">
                <a:solidFill>
                  <a:srgbClr val="1A1F2C"/>
                </a:solidFill>
              </a:defRPr>
            </a:pPr>
            <a:r>
              <a:t>• Terraform (azurerm ~&gt; 4.0) — all in repo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1280160"/>
            <a:ext cx="2743200" cy="502920"/>
          </a:xfrm>
          <a:prstGeom prst="roundRect">
            <a:avLst/>
          </a:prstGeom>
          <a:solidFill>
            <a:srgbClr val="E6A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874520"/>
            <a:ext cx="2743200" cy="41148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/>
          <a:lstStyle/>
          <a:p>
            <a:pPr algn="ctr">
              <a:spcAft>
                <a:spcPts val="800"/>
              </a:spcAft>
              <a:defRPr sz="1300">
                <a:solidFill>
                  <a:srgbClr val="1A1F2C"/>
                </a:solidFill>
              </a:defRPr>
            </a:pPr>
            <a:r>
              <a:t>• GitHub Actions (OIDC, no long-lived creds)</a:t>
            </a:r>
          </a:p>
          <a:p>
            <a:pPr>
              <a:spcAft>
                <a:spcPts val="800"/>
              </a:spcAft>
              <a:defRPr sz="1300">
                <a:solidFill>
                  <a:srgbClr val="1A1F2C"/>
                </a:solidFill>
              </a:defRPr>
            </a:pPr>
            <a:r>
              <a:t>• HMAC-signed deploy webhooks</a:t>
            </a:r>
          </a:p>
          <a:p>
            <a:pPr>
              <a:spcAft>
                <a:spcPts val="800"/>
              </a:spcAft>
              <a:defRPr sz="1300">
                <a:solidFill>
                  <a:srgbClr val="1A1F2C"/>
                </a:solidFill>
              </a:defRPr>
            </a:pPr>
            <a:r>
              <a:t>• ServiceNow REST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55B66"/>
                </a:solidFill>
              </a:defRPr>
            </a:pPr>
            <a:r>
              <a:t>Everything is in Terraform — including the Foundry role assignments. Reproducible from a clean subscription.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Live Demo Flow</a:t>
            </a:r>
          </a:p>
          <a:p>
            <a:pPr>
              <a:defRPr sz="1200">
                <a:solidFill>
                  <a:srgbClr val="CFDAE8"/>
                </a:solidFill>
              </a:defRPr>
            </a:pPr>
            <a:r>
              <a:t>What you're about to see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188720"/>
            <a:ext cx="548640" cy="640080"/>
          </a:xfrm>
          <a:prstGeom prst="ellipse">
            <a:avLst/>
          </a:prstGeom>
          <a:solidFill>
            <a:srgbClr val="E6A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18872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</a:defRPr>
            </a:pPr>
            <a:r>
              <a:t>Submit RITM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17904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0">
                <a:solidFill>
                  <a:srgbClr val="1F6FEB"/>
                </a:solidFill>
              </a:defRPr>
            </a:pPr>
            <a:r>
              <a:t>tools/submit_and_ingest.ps1 -Item Azure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28016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1A1F2C"/>
                </a:solidFill>
              </a:defRPr>
            </a:pPr>
            <a:r>
              <a:t>ServiceNow creates a real RITM.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65960"/>
            <a:ext cx="548640" cy="640080"/>
          </a:xfrm>
          <a:prstGeom prst="ellipse">
            <a:avLst/>
          </a:prstGeom>
          <a:solidFill>
            <a:srgbClr val="E6A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6596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</a:defRPr>
            </a:pPr>
            <a:r>
              <a:t>Intake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95144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0">
                <a:solidFill>
                  <a:srgbClr val="1F6FEB"/>
                </a:solidFill>
              </a:defRPr>
            </a:pPr>
            <a:r>
              <a:t>/tickets/intake 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05740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1A1F2C"/>
                </a:solidFill>
              </a:defRPr>
            </a:pPr>
            <a:r>
              <a:t>gpt-5.4 classifies as azure_infra_change.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743200"/>
            <a:ext cx="548640" cy="640080"/>
          </a:xfrm>
          <a:prstGeom prst="ellipse">
            <a:avLst/>
          </a:prstGeom>
          <a:solidFill>
            <a:srgbClr val="E6A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4320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</a:defRPr>
            </a:pPr>
            <a:r>
              <a:t>CodeGen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72384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0">
                <a:solidFill>
                  <a:srgbClr val="1F6FEB"/>
                </a:solidFill>
              </a:defRPr>
            </a:pPr>
            <a:r>
              <a:t>Terraform 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83464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1A1F2C"/>
                </a:solidFill>
              </a:defRPr>
            </a:pPr>
            <a:r>
              <a:t>Jinja2 renders disk_iops_change.tf.j2.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520440"/>
            <a:ext cx="548640" cy="640080"/>
          </a:xfrm>
          <a:prstGeom prst="ellipse">
            <a:avLst/>
          </a:prstGeom>
          <a:solidFill>
            <a:srgbClr val="E6A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52044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</a:defRPr>
            </a:pPr>
            <a:r>
              <a:t>Human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849624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0">
                <a:solidFill>
                  <a:srgbClr val="1F6FEB"/>
                </a:solidFill>
              </a:defRPr>
            </a:pPr>
            <a:r>
              <a:t>GitHub PR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61188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1A1F2C"/>
                </a:solidFill>
              </a:defRPr>
            </a:pPr>
            <a:r>
              <a:t>Reviewer merges (the only manual step).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297680"/>
            <a:ext cx="548640" cy="640080"/>
          </a:xfrm>
          <a:prstGeom prst="ellipse">
            <a:avLst/>
          </a:prstGeom>
          <a:solidFill>
            <a:srgbClr val="E6A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29768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</a:defRPr>
            </a:pPr>
            <a:r>
              <a:t>Apply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626864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0">
                <a:solidFill>
                  <a:srgbClr val="1F6FEB"/>
                </a:solidFill>
              </a:defRPr>
            </a:pPr>
            <a:r>
              <a:t>GH Actions: terraform apply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38912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1A1F2C"/>
                </a:solidFill>
              </a:defRPr>
            </a:pPr>
            <a:r>
              <a:t>Real Azure disk gets new IOPS.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5074920"/>
            <a:ext cx="548640" cy="640080"/>
          </a:xfrm>
          <a:prstGeom prst="ellipse">
            <a:avLst/>
          </a:prstGeom>
          <a:solidFill>
            <a:srgbClr val="E6A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07492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</a:defRPr>
            </a:pPr>
            <a:r>
              <a:t>Verify + Close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404104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0">
                <a:solidFill>
                  <a:srgbClr val="1F6FEB"/>
                </a:solidFill>
              </a:defRPr>
            </a:pPr>
            <a:r>
              <a:t>Webhook → Verify → 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16636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1A1F2C"/>
                </a:solidFill>
              </a:defRPr>
            </a:pPr>
            <a:r>
              <a:t>RITM moves to Closed Complete.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15A08C"/>
                </a:solidFill>
              </a:defRPr>
            </a:pPr>
            <a:r>
              <a:t>Watch the dashboard at /api/tickets/&lt;RITM&gt; — stages flip in real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It Matters</a:t>
            </a:r>
          </a:p>
          <a:p>
            <a:pPr>
              <a:defRPr sz="1200">
                <a:solidFill>
                  <a:srgbClr val="CFDAE8"/>
                </a:solidFill>
              </a:defRPr>
            </a:pPr>
            <a:r>
              <a:t>Bigger than disk-resize tickets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743200" cy="18288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Hours → seconds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Ticket-to-PR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371600"/>
            <a:ext cx="2743200" cy="1828800"/>
          </a:xfrm>
          <a:prstGeom prst="roundRect">
            <a:avLst/>
          </a:prstGeom>
          <a:solidFill>
            <a:srgbClr val="15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 → ∞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Tickets a team can absorb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2743200" cy="182880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100%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Audit trail across SNOW / GH / Azure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371600"/>
            <a:ext cx="2743200" cy="1828800"/>
          </a:xfrm>
          <a:prstGeom prst="roundRect">
            <a:avLst/>
          </a:prstGeom>
          <a:solidFill>
            <a:srgbClr val="E6A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Reproducible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Whole stack in Terraform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0B2A4A"/>
                </a:solidFill>
              </a:defRPr>
            </a:pPr>
            <a:r>
              <a:t>Same pattern fits any ITSM-to-cloud workflow: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297680"/>
            <a:ext cx="228600" cy="228600"/>
          </a:xfrm>
          <a:prstGeom prst="ellipse">
            <a:avLst/>
          </a:prstGeom>
          <a:solidFill>
            <a:srgbClr val="15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3383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1A1F2C"/>
                </a:solidFill>
              </a:defRPr>
            </a:pPr>
            <a:r>
              <a:t>VM resize / disk IOPS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4297680"/>
            <a:ext cx="228600" cy="228600"/>
          </a:xfrm>
          <a:prstGeom prst="ellipse">
            <a:avLst/>
          </a:prstGeom>
          <a:solidFill>
            <a:srgbClr val="15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4251960"/>
            <a:ext cx="3383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1A1F2C"/>
                </a:solidFill>
              </a:defRPr>
            </a:pPr>
            <a:r>
              <a:t>Storage account provisioning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0" y="4297680"/>
            <a:ext cx="228600" cy="228600"/>
          </a:xfrm>
          <a:prstGeom prst="ellipse">
            <a:avLst/>
          </a:prstGeom>
          <a:solidFill>
            <a:srgbClr val="15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4251960"/>
            <a:ext cx="3383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1A1F2C"/>
                </a:solidFill>
              </a:defRPr>
            </a:pPr>
            <a:r>
              <a:t>Network firewall rule change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754880"/>
            <a:ext cx="228600" cy="228600"/>
          </a:xfrm>
          <a:prstGeom prst="ellipse">
            <a:avLst/>
          </a:prstGeom>
          <a:solidFill>
            <a:srgbClr val="15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3383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1A1F2C"/>
                </a:solidFill>
              </a:defRPr>
            </a:pPr>
            <a:r>
              <a:t>RBAC role grants</a:t>
            </a:r>
          </a:p>
        </p:txBody>
      </p:sp>
      <p:sp>
        <p:nvSpPr>
          <p:cNvPr id="18" name="Oval 17"/>
          <p:cNvSpPr/>
          <p:nvPr/>
        </p:nvSpPr>
        <p:spPr>
          <a:xfrm>
            <a:off x="4389120" y="4754880"/>
            <a:ext cx="228600" cy="228600"/>
          </a:xfrm>
          <a:prstGeom prst="ellipse">
            <a:avLst/>
          </a:prstGeom>
          <a:solidFill>
            <a:srgbClr val="15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4709160"/>
            <a:ext cx="3383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1A1F2C"/>
                </a:solidFill>
              </a:defRPr>
            </a:pPr>
            <a:r>
              <a:t>Key Vault secret rotation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0" y="4754880"/>
            <a:ext cx="228600" cy="228600"/>
          </a:xfrm>
          <a:prstGeom prst="ellipse">
            <a:avLst/>
          </a:prstGeom>
          <a:solidFill>
            <a:srgbClr val="15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4709160"/>
            <a:ext cx="3383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1A1F2C"/>
                </a:solidFill>
              </a:defRPr>
            </a:pPr>
            <a:r>
              <a:t>Cost guardrail enforcement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0"/>
            <a:ext cx="12191695" cy="109728"/>
          </a:xfrm>
          <a:prstGeom prst="rect">
            <a:avLst/>
          </a:prstGeom>
          <a:solidFill>
            <a:srgbClr val="E6A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728655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</a:defRPr>
            </a:pPr>
            <a:r>
              <a:t>Let's run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728655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0">
                <a:solidFill>
                  <a:srgbClr val="E6A423"/>
                </a:solidFill>
              </a:defRPr>
            </a:pPr>
            <a:r>
              <a:t>Real ServiceNow • Real Azure • Real GitHub 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728655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CFDAE8"/>
                </a:solidFill>
              </a:defRPr>
            </a:pPr>
            <a:r>
              <a:t>github.com/lindazhang2000/snowiac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